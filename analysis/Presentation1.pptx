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Ex2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611B316-F744-44F5-962E-477033F8892A}">
          <p14:sldIdLst>
            <p14:sldId id="256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CCFF"/>
    <a:srgbClr val="0066FF"/>
    <a:srgbClr val="0000FF"/>
    <a:srgbClr val="3333FF"/>
    <a:srgbClr val="0033CC"/>
    <a:srgbClr val="C72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67" autoAdjust="0"/>
    <p:restoredTop sz="86410" autoAdjust="0"/>
  </p:normalViewPr>
  <p:slideViewPr>
    <p:cSldViewPr snapToGrid="0" showGuides="1">
      <p:cViewPr varScale="1">
        <p:scale>
          <a:sx n="62" d="100"/>
          <a:sy n="62" d="100"/>
        </p:scale>
        <p:origin x="632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D221691AE611BA1/FILE%20LATIHAN%20DAX/result/Retail%20-%20ElectroMax(Auto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D221691AE611BA1/FILE%20LATIHAN%20DAX/result/Retail%20-%20ElectroMax(AutoRecovered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D221691AE611BA1/FILE%20LATIHAN%20DAX/result/Retail%20-%20ElectroMax(AutoRecover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D221691AE611BA1/FILE%20LATIHAN%20DAX/result/Retail%20-%20ElectroMax(AutoRecovered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D221691AE611BA1/FILE%20LATIHAN%20DAX/result/Retail%20-%20ElectroMax(AutoRecovered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https://d.docs.live.net/2D221691AE611BA1/FILE%20LATIHAN%20DAX/result/Retail%20-%20ElectroMax(AutoRecovered)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https://d.docs.live.net/2D221691AE611BA1/FILE%20LATIHAN%20DAX/result/Retail%20-%20ElectroMax(AutoRecovered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Revenue</a:t>
            </a:r>
          </a:p>
        </c:rich>
      </c:tx>
      <c:layout>
        <c:manualLayout>
          <c:xMode val="edge"/>
          <c:yMode val="edge"/>
          <c:x val="0.4205805897270079"/>
          <c:y val="2.58420366509263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1621258801217821E-2"/>
          <c:y val="0.15103347798543351"/>
          <c:w val="0.93675734013233425"/>
          <c:h val="0.75344143348086168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'[Retail - ElectroMax(AutoRecovered).xlsx]Sheet3'!$A$3:$C$3</c:f>
              <c:strCache>
                <c:ptCount val="3"/>
                <c:pt idx="0">
                  <c:v> Revenue 2023</c:v>
                </c:pt>
                <c:pt idx="1">
                  <c:v>Revenue 2024</c:v>
                </c:pt>
                <c:pt idx="2">
                  <c:v>Revenue 2025</c:v>
                </c:pt>
              </c:strCache>
            </c:strRef>
          </c:tx>
          <c:spPr>
            <a:solidFill>
              <a:srgbClr val="0066F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2AA-4C30-B6A6-73DF86F940BA}"/>
              </c:ext>
            </c:extLst>
          </c:dPt>
          <c:dPt>
            <c:idx val="1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D2AA-4C30-B6A6-73DF86F940BA}"/>
              </c:ext>
            </c:extLst>
          </c:dPt>
          <c:dPt>
            <c:idx val="2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2AA-4C30-B6A6-73DF86F940BA}"/>
              </c:ext>
            </c:extLst>
          </c:dPt>
          <c:dLbls>
            <c:numFmt formatCode="&quot;Rp&quot;0.00,,,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3"/>
              <c:pt idx="0">
                <c:v>2023</c:v>
              </c:pt>
              <c:pt idx="1">
                <c:v>2024</c:v>
              </c:pt>
              <c:pt idx="2">
                <c:v>2025</c:v>
              </c:pt>
            </c:strLit>
          </c:cat>
          <c:val>
            <c:numRef>
              <c:f>'[Retail - ElectroMax(AutoRecovered).xlsx]Sheet3'!$A$4:$C$4</c:f>
              <c:numCache>
                <c:formatCode>General</c:formatCode>
                <c:ptCount val="3"/>
                <c:pt idx="0">
                  <c:v>82281238950</c:v>
                </c:pt>
                <c:pt idx="1">
                  <c:v>83722812840</c:v>
                </c:pt>
                <c:pt idx="2">
                  <c:v>81089845290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AA-4C30-B6A6-73DF86F940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05789279"/>
        <c:axId val="805793023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spPr>
                  <a:solidFill>
                    <a:srgbClr val="0070C0"/>
                  </a:solidFill>
                  <a:ln>
                    <a:noFill/>
                  </a:ln>
                  <a:effectLst/>
                </c:spPr>
                <c:invertIfNegative val="0"/>
                <c:dPt>
                  <c:idx val="0"/>
                  <c:invertIfNegative val="0"/>
                  <c:bubble3D val="0"/>
                  <c:spPr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4-D2AA-4C30-B6A6-73DF86F940BA}"/>
                    </c:ext>
                  </c:extLst>
                </c:dPt>
                <c:dPt>
                  <c:idx val="1"/>
                  <c:invertIfNegative val="0"/>
                  <c:bubble3D val="0"/>
                  <c:spPr>
                    <a:solidFill>
                      <a:srgbClr val="0066FF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6-D2AA-4C30-B6A6-73DF86F940BA}"/>
                    </c:ext>
                  </c:extLst>
                </c:dPt>
                <c:dPt>
                  <c:idx val="2"/>
                  <c:invertIfNegative val="0"/>
                  <c:bubble3D val="0"/>
                  <c:spPr>
                    <a:solidFill>
                      <a:srgbClr val="0066FF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8-D2AA-4C30-B6A6-73DF86F940BA}"/>
                    </c:ext>
                  </c:extLst>
                </c:dPt>
                <c:dLbls>
                  <c:numFmt formatCode="0.00,,,&quot;B&quot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Lit>
                    <c:ptCount val="3"/>
                    <c:pt idx="0">
                      <c:v>2023</c:v>
                    </c:pt>
                    <c:pt idx="1">
                      <c:v>2024</c:v>
                    </c:pt>
                    <c:pt idx="2">
                      <c:v>2025</c:v>
                    </c:pt>
                  </c:strLit>
                </c:cat>
                <c:val>
                  <c:numRef>
                    <c:extLst>
                      <c:ext uri="{02D57815-91ED-43cb-92C2-25804820EDAC}">
                        <c15:formulaRef>
                          <c15:sqref>'[Retail - ElectroMax(AutoRecovered).xlsx] Pivot 2'!$B$19:$D$19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87173691530</c:v>
                      </c:pt>
                      <c:pt idx="1">
                        <c:v>88803674770</c:v>
                      </c:pt>
                      <c:pt idx="2">
                        <c:v>85723349140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D2AA-4C30-B6A6-73DF86F940BA}"/>
                  </c:ext>
                </c:extLst>
              </c15:ser>
            </c15:filteredBarSeries>
          </c:ext>
        </c:extLst>
      </c:barChart>
      <c:catAx>
        <c:axId val="805789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5793023"/>
        <c:crosses val="autoZero"/>
        <c:auto val="1"/>
        <c:lblAlgn val="ctr"/>
        <c:lblOffset val="100"/>
        <c:noMultiLvlLbl val="0"/>
      </c:catAx>
      <c:valAx>
        <c:axId val="805793023"/>
        <c:scaling>
          <c:orientation val="minMax"/>
          <c:min val="0"/>
        </c:scaling>
        <c:delete val="1"/>
        <c:axPos val="l"/>
        <c:numFmt formatCode="#,,,\ &quot;B&quot;" sourceLinked="0"/>
        <c:majorTickMark val="none"/>
        <c:minorTickMark val="none"/>
        <c:tickLblPos val="nextTo"/>
        <c:crossAx val="805789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Transaction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18-4E7B-BFA0-8607AE45EBDD}"/>
              </c:ext>
            </c:extLst>
          </c:dPt>
          <c:dPt>
            <c:idx val="1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E02-44A0-B87E-18544EDDE6FF}"/>
              </c:ext>
            </c:extLst>
          </c:dPt>
          <c:dPt>
            <c:idx val="2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2-44A0-B87E-18544EDDE6FF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3"/>
              <c:pt idx="0">
                <c:v>2023</c:v>
              </c:pt>
              <c:pt idx="1">
                <c:v>2024</c:v>
              </c:pt>
              <c:pt idx="2">
                <c:v>2025</c:v>
              </c:pt>
            </c:strLit>
          </c:cat>
          <c:val>
            <c:numRef>
              <c:f>'[Retail - ElectroMax(AutoRecovered).xlsx]Sheet3'!$A$9:$C$9</c:f>
              <c:numCache>
                <c:formatCode>General</c:formatCode>
                <c:ptCount val="3"/>
                <c:pt idx="0">
                  <c:v>16071</c:v>
                </c:pt>
                <c:pt idx="1">
                  <c:v>16105</c:v>
                </c:pt>
                <c:pt idx="2">
                  <c:v>16006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18-4E7B-BFA0-8607AE45EB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39358479"/>
        <c:axId val="1839367215"/>
      </c:barChart>
      <c:catAx>
        <c:axId val="183935847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9367215"/>
        <c:crosses val="autoZero"/>
        <c:auto val="0"/>
        <c:lblAlgn val="ctr"/>
        <c:lblOffset val="100"/>
        <c:noMultiLvlLbl val="0"/>
      </c:catAx>
      <c:valAx>
        <c:axId val="1839367215"/>
        <c:scaling>
          <c:orientation val="minMax"/>
          <c:min val="0"/>
        </c:scaling>
        <c:delete val="1"/>
        <c:axPos val="l"/>
        <c:numFmt formatCode="#,\ &quot;K&quot;" sourceLinked="0"/>
        <c:majorTickMark val="none"/>
        <c:minorTickMark val="none"/>
        <c:tickLblPos val="nextTo"/>
        <c:crossAx val="1839358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AOV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AA-469B-B044-AABFE18B20C8}"/>
              </c:ext>
            </c:extLst>
          </c:dPt>
          <c:dPt>
            <c:idx val="1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6AA-49D3-8EA1-79C127377263}"/>
              </c:ext>
            </c:extLst>
          </c:dPt>
          <c:dPt>
            <c:idx val="2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6AA-49D3-8EA1-79C127377263}"/>
              </c:ext>
            </c:extLst>
          </c:dPt>
          <c:dLbls>
            <c:numFmt formatCode="&quot;Rp&quot;0.00,,&quot;jt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3"/>
              <c:pt idx="0">
                <c:v>2023</c:v>
              </c:pt>
              <c:pt idx="1">
                <c:v>2024</c:v>
              </c:pt>
              <c:pt idx="2">
                <c:v>2025</c:v>
              </c:pt>
            </c:strLit>
          </c:cat>
          <c:val>
            <c:numRef>
              <c:f>'[Retail - ElectroMax(AutoRecovered).xlsx]Sheet3'!$A$14:$C$14</c:f>
              <c:numCache>
                <c:formatCode>0</c:formatCode>
                <c:ptCount val="3"/>
                <c:pt idx="0">
                  <c:v>5119858.0642150454</c:v>
                </c:pt>
                <c:pt idx="1">
                  <c:v>5198560.2508537723</c:v>
                </c:pt>
                <c:pt idx="2">
                  <c:v>5066215.4998125704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AA-469B-B044-AABFE18B20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54136495"/>
        <c:axId val="1854135663"/>
      </c:barChart>
      <c:catAx>
        <c:axId val="185413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4135663"/>
        <c:crosses val="autoZero"/>
        <c:auto val="1"/>
        <c:lblAlgn val="ctr"/>
        <c:lblOffset val="100"/>
        <c:noMultiLvlLbl val="0"/>
      </c:catAx>
      <c:valAx>
        <c:axId val="1854135663"/>
        <c:scaling>
          <c:orientation val="minMax"/>
          <c:min val="0"/>
        </c:scaling>
        <c:delete val="1"/>
        <c:axPos val="l"/>
        <c:numFmt formatCode="#,,\ &quot;M&quot;" sourceLinked="0"/>
        <c:majorTickMark val="none"/>
        <c:minorTickMark val="none"/>
        <c:tickLblPos val="nextTo"/>
        <c:crossAx val="1854136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441379266588198"/>
          <c:y val="5.2894370220330736E-2"/>
          <c:w val="0.75699407219749482"/>
          <c:h val="0.89861912374436614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89-4CA1-A125-2BBAC970EBB4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89-4CA1-A125-2BBAC970EBB4}"/>
              </c:ext>
            </c:extLst>
          </c:dPt>
          <c:dPt>
            <c:idx val="2"/>
            <c:invertIfNegative val="0"/>
            <c:bubble3D val="0"/>
            <c:spPr>
              <a:solidFill>
                <a:srgbClr val="006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89-4CA1-A125-2BBAC970EB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'[Retail - ElectroMax(AutoRecovered).xlsx]chart'!$A$1:$A$3</c:f>
              <c:strCache>
                <c:ptCount val="3"/>
                <c:pt idx="0">
                  <c:v>Unit Per Transaksi</c:v>
                </c:pt>
                <c:pt idx="1">
                  <c:v>Harga list rata-rata</c:v>
                </c:pt>
                <c:pt idx="2">
                  <c:v>Realisasi harga</c:v>
                </c:pt>
              </c:strCache>
            </c:strRef>
          </c:cat>
          <c:val>
            <c:numRef>
              <c:f>'[Retail - ElectroMax(AutoRecovered).xlsx]chart'!$B$1:$B$3</c:f>
              <c:numCache>
                <c:formatCode>0.0%</c:formatCode>
                <c:ptCount val="3"/>
                <c:pt idx="0">
                  <c:v>0.30659954631585812</c:v>
                </c:pt>
                <c:pt idx="1">
                  <c:v>0.32740449864071791</c:v>
                </c:pt>
                <c:pt idx="2">
                  <c:v>0.36599595504342181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08-46F5-97FD-786442CA11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971163456"/>
        <c:axId val="969055408"/>
      </c:barChart>
      <c:catAx>
        <c:axId val="971163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9055408"/>
        <c:crosses val="autoZero"/>
        <c:auto val="1"/>
        <c:lblAlgn val="ctr"/>
        <c:lblOffset val="100"/>
        <c:noMultiLvlLbl val="0"/>
      </c:catAx>
      <c:valAx>
        <c:axId val="969055408"/>
        <c:scaling>
          <c:orientation val="minMax"/>
          <c:max val="0.8"/>
          <c:min val="0"/>
        </c:scaling>
        <c:delete val="1"/>
        <c:axPos val="b"/>
        <c:numFmt formatCode="0.0%" sourceLinked="1"/>
        <c:majorTickMark val="out"/>
        <c:minorTickMark val="none"/>
        <c:tickLblPos val="nextTo"/>
        <c:crossAx val="97116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441379266588198"/>
          <c:y val="4.8486506035303176E-2"/>
          <c:w val="0.75439478718507458"/>
          <c:h val="0.9030269879293936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34-42D1-B557-E45ACDBA7878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34-42D1-B557-E45ACDBA7878}"/>
              </c:ext>
            </c:extLst>
          </c:dPt>
          <c:dPt>
            <c:idx val="2"/>
            <c:invertIfNegative val="0"/>
            <c:bubble3D val="0"/>
            <c:spPr>
              <a:solidFill>
                <a:srgbClr val="006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34-42D1-B557-E45ACDBA787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'[Retail - ElectroMax(AutoRecovered).xlsx]chart'!$A$6:$A$8</c:f>
              <c:strCache>
                <c:ptCount val="3"/>
                <c:pt idx="0">
                  <c:v>Realisasi harga</c:v>
                </c:pt>
                <c:pt idx="1">
                  <c:v>Harga list rata-rata</c:v>
                </c:pt>
                <c:pt idx="2">
                  <c:v>Unit Per Transaksi</c:v>
                </c:pt>
              </c:strCache>
            </c:strRef>
          </c:cat>
          <c:val>
            <c:numRef>
              <c:f>'[Retail - ElectroMax(AutoRecovered).xlsx]chart'!$B$6:$B$8</c:f>
              <c:numCache>
                <c:formatCode>0.0%</c:formatCode>
                <c:ptCount val="3"/>
                <c:pt idx="0">
                  <c:v>3.3454288635466012E-2</c:v>
                </c:pt>
                <c:pt idx="1">
                  <c:v>0.25207204348958817</c:v>
                </c:pt>
                <c:pt idx="2">
                  <c:v>0.7144736678749547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34-42D1-B557-E45ACDBA78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617279648"/>
        <c:axId val="1617281728"/>
      </c:barChart>
      <c:catAx>
        <c:axId val="1617279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7281728"/>
        <c:crosses val="autoZero"/>
        <c:auto val="1"/>
        <c:lblAlgn val="ctr"/>
        <c:lblOffset val="100"/>
        <c:noMultiLvlLbl val="0"/>
      </c:catAx>
      <c:valAx>
        <c:axId val="1617281728"/>
        <c:scaling>
          <c:orientation val="minMax"/>
        </c:scaling>
        <c:delete val="1"/>
        <c:axPos val="b"/>
        <c:numFmt formatCode="0.0%" sourceLinked="1"/>
        <c:majorTickMark val="out"/>
        <c:minorTickMark val="none"/>
        <c:tickLblPos val="nextTo"/>
        <c:crossAx val="161727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'[Retail - ElectroMax(AutoRecovered).xlsx]Sheet3'!$A$83:$A$87</cx:f>
        <cx:lvl ptCount="5">
          <cx:pt idx="0">Bundling</cx:pt>
          <cx:pt idx="1">Diskon</cx:pt>
          <cx:pt idx="2">Tanpa Promosi</cx:pt>
          <cx:pt idx="3">Cashback</cx:pt>
          <cx:pt idx="4">Total</cx:pt>
        </cx:lvl>
      </cx:strDim>
      <cx:numDim type="val">
        <cx:f>'[Retail - ElectroMax(AutoRecovered).xlsx]Sheet3'!$D$83:$D$87</cx:f>
        <cx:lvl ptCount="5" formatCode="General">
          <cx:pt idx="0">-740017000</cx:pt>
          <cx:pt idx="1">-18987110</cx:pt>
          <cx:pt idx="2">470499000</cx:pt>
          <cx:pt idx="3">1730079000</cx:pt>
          <cx:pt idx="4">1441573890</cx:pt>
        </cx:lvl>
      </cx:numDim>
    </cx:data>
  </cx:chartData>
  <cx:chart>
    <cx:plotArea>
      <cx:plotAreaRegion>
        <cx:series layoutId="waterfall" uniqueId="{6D94DE36-170B-4CE8-A94E-BF4FB499CD29}">
          <cx:dataPt idx="0">
            <cx:spPr>
              <a:solidFill>
                <a:srgbClr val="ED7D31"/>
              </a:solidFill>
            </cx:spPr>
          </cx:dataPt>
          <cx:dataPt idx="2">
            <cx:spPr>
              <a:solidFill>
                <a:prstClr val="white">
                  <a:lumMod val="65000"/>
                </a:prstClr>
              </a:solidFill>
            </cx:spPr>
          </cx:dataPt>
          <cx:dataPt idx="3">
            <cx:spPr>
              <a:solidFill>
                <a:srgbClr val="0066FF"/>
              </a:solidFill>
            </cx:spPr>
          </cx:dataPt>
          <cx:dataPt idx="4">
            <cx:spPr>
              <a:solidFill>
                <a:prstClr val="white">
                  <a:lumMod val="65000"/>
                </a:prstClr>
              </a:solidFill>
            </cx:spPr>
          </cx:dataPt>
          <cx:dataLabels>
            <cx:numFmt formatCode="Rp0,00..&quot;jt&quot;" sourceLinked="0"/>
            <cx:visibility seriesName="0" categoryName="0" value="1"/>
            <cx:separator>, </cx:separator>
            <cx:dataLabel idx="3">
              <cx:numFmt formatCode="Rp0,00...&quot;M&quot;" sourceLinked="0"/>
              <cx:separator>, </cx:separator>
            </cx:dataLabel>
            <cx:dataLabel idx="4">
              <cx:numFmt formatCode="Rp0,00...&quot;M&quot;" sourceLinked="0"/>
              <cx:separator>, </cx:separator>
            </cx:dataLabel>
          </cx:dataLabels>
          <cx:dataId val="0"/>
          <cx:layoutPr>
            <cx:subtotals>
              <cx:idx val="0"/>
              <cx:idx val="1"/>
              <cx:idx val="2"/>
              <cx:idx val="3"/>
              <cx:idx val="4"/>
            </cx:subtotals>
          </cx:layoutPr>
        </cx:series>
      </cx:plotAreaRegion>
      <cx:axis id="0">
        <cx:catScaling gapWidth="0.5"/>
        <cx:tickLabels/>
        <cx:spPr>
          <a:ln>
            <a:noFill/>
          </a:ln>
        </cx:spPr>
      </cx:axis>
      <cx:axis id="1" hidden="1">
        <cx:valScaling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'[Retail - ElectroMax(AutoRecovered).xlsx]Sheet3'!$A$65:$A$69</cx:f>
        <cx:lvl ptCount="5">
          <cx:pt idx="0">Bundling</cx:pt>
          <cx:pt idx="1">Diskon</cx:pt>
          <cx:pt idx="2">Tanpa Promosi</cx:pt>
          <cx:pt idx="3">Cashback</cx:pt>
          <cx:pt idx="4">Total</cx:pt>
        </cx:lvl>
      </cx:strDim>
      <cx:numDim type="val">
        <cx:f>'[Retail - ElectroMax(AutoRecovered).xlsx]Sheet3'!$D$65:$D$69</cx:f>
        <cx:lvl ptCount="5" formatCode="General">
          <cx:pt idx="0">208796000</cx:pt>
          <cx:pt idx="1">-519790550</cx:pt>
          <cx:pt idx="2">-591894000</cx:pt>
          <cx:pt idx="3">-1730079000</cx:pt>
          <cx:pt idx="4">-2632967550</cx:pt>
        </cx:lvl>
      </cx:numDim>
    </cx:data>
  </cx:chartData>
  <cx:chart>
    <cx:plotArea>
      <cx:plotAreaRegion>
        <cx:series layoutId="waterfall" uniqueId="{CFCBF070-D349-48BF-8193-53AB01BA5572}">
          <cx:dataPt idx="0">
            <cx:spPr>
              <a:solidFill>
                <a:srgbClr val="0066FF"/>
              </a:solidFill>
            </cx:spPr>
          </cx:dataPt>
          <cx:dataPt idx="3">
            <cx:spPr>
              <a:solidFill>
                <a:srgbClr val="ED7D31"/>
              </a:solidFill>
            </cx:spPr>
          </cx:dataPt>
          <cx:dataLabels pos="outEnd">
            <cx:numFmt formatCode="Rp0,00..&quot;jt&quot;" sourceLinked="0"/>
            <cx:visibility seriesName="0" categoryName="0" value="1"/>
            <cx:separator>, </cx:separator>
            <cx:dataLabel idx="3">
              <cx:numFmt formatCode="Rp0,00...&quot;M&quot;" sourceLinked="0"/>
              <cx:separator>, </cx:separator>
            </cx:dataLabel>
            <cx:dataLabel idx="4">
              <cx:numFmt formatCode="Rp0,00...&quot;M&quot;" sourceLinked="0"/>
              <cx:separator>, </cx:separator>
            </cx:dataLabel>
          </cx:dataLabels>
          <cx:dataId val="0"/>
          <cx:layoutPr>
            <cx:subtotals>
              <cx:idx val="1"/>
              <cx:idx val="2"/>
              <cx:idx val="3"/>
              <cx:idx val="4"/>
            </cx:subtotals>
          </cx:layoutPr>
        </cx:series>
      </cx:plotAreaRegion>
      <cx:axis id="0">
        <cx:catScaling gapWidth="0.5"/>
        <cx:tickLabels/>
        <cx:spPr>
          <a:ln>
            <a:noFill/>
          </a:ln>
        </cx:spPr>
      </cx:axis>
      <cx:axis id="1" hidden="1">
        <cx:valScaling/>
        <cx:tickLabels/>
      </cx:axis>
    </cx:plotArea>
  </cx:chart>
  <cx:spPr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59022-0F47-400E-BA54-C2A920F06813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D5395-0443-4DE8-9F2B-7D702C0CBD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0658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D5395-0443-4DE8-9F2B-7D702C0CBDB9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934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D5395-0443-4DE8-9F2B-7D702C0CBDB9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9197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D5395-0443-4DE8-9F2B-7D702C0CBDB9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0378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D5395-0443-4DE8-9F2B-7D702C0CBDB9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898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A765-A741-43EC-8CB6-30E18E745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96A70-1F04-4C20-9026-EE935330F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E432A-5F0E-4CF9-9825-5A3437854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44520-A050-440D-90E0-BF6952E2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7ACBA-D934-4C29-A15E-26F9F5A8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022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0B01-BF70-48A4-8205-753285CC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CE448-866E-463B-BE22-1D1D774F1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4A12C-2D0F-4705-B508-FA9C4F32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CDA62-6EFB-4B92-B9C4-7696648D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E71E3-72CC-48BD-8A0D-EACAAA3B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682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9A9D-C417-4A1A-BB2B-F989F09B1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3BD62-D206-4B19-A4AB-53167992F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3914A-ED93-4D66-A657-7EB048F0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1BBEE-BE07-41F8-9F69-380408E1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A2A0F-50CB-4F3B-9DFC-9EFDE920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586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55155-A3AA-46F1-A29E-F26E3C78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7BFC7-7C4B-48C3-AEC6-2ECDE2C8D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9E64A-01AC-413A-9524-2175175CB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385F6-EC45-4402-AA41-C29E6058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D17D4-524E-4AA6-BFD0-A92725EC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735E0-D69A-430C-9AB1-32ECF2E6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303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398C-C8FC-4B59-9EDF-C61E1C7E6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DF630-4C2F-4572-8698-66397E04E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C9FFD-C528-4B50-B81B-44D295768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983EF-E933-4F57-B1AF-5A65044C6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5556E-5656-45FE-BED9-89CE33C2D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ADFB1-F234-4268-A699-4639BC68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825FF-3F93-4AF6-8A8C-5DC6C356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BFB87-E05F-409F-BC1D-AEA8A4D5A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13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96FC-D560-494C-9AA6-45FC234CB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26BD0-C438-496B-93E5-31B48171A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0C291-237B-4890-92ED-E476D3450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971B7-9BA6-41C0-924F-913C5F3F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010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8F2810-D866-4217-884F-3901E0F8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D42988-2201-43E0-9440-42D11A5C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B3DBC-CAE6-4A15-ABD4-B0547D1B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351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0E3C4-B0A4-4138-8AEE-F9423A81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8FDD-A2F4-44B7-9A6E-1CB9A81D8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1EF16-0BD8-4B19-B1AF-F41B9D6A8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181CE-128F-496D-9EB3-3D51F34E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CBB24-64F2-478C-912C-3D926B1A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9C93E-4790-42F2-979A-B0006870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606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896B-8F13-44DF-BE65-8E9A878F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C17C6-B02B-4FE0-A5BD-FB4C7DC6F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714CD-A1A9-4A81-8CF8-C5FFE2058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BE70C-679B-4FA6-AB74-D83CB381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18795-6AA7-4294-A4BB-C51C8039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44D45-37A3-4B2D-BADF-DE962E5D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57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18BAA-3857-483A-82D0-04C6EB03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AFD06-7574-4390-94EB-B5684CC5B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73AE8-3981-4F0F-A872-E36ECD4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DF9AF-59AA-4E5D-BE3C-8ACCF12C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604AC-D00D-410E-A59D-3803F517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472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7891E-DEE5-4D9C-BAA1-123CC1DB3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F205D-D00C-40F7-949A-217470E5C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39B0D-DB38-4C06-8135-FF6EA4AB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68225-6C8B-48C3-94C2-E51437D1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0F6E8-6F99-469F-B966-EA10CC41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341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8F6850-F0BF-4CD0-8532-CC74A4755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5E5C0-1714-4BF2-A26E-BF31132BB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B9C4F-9BEF-433C-88E8-DA1AC7761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B8F7F-7223-40B1-A870-DFD602880F60}" type="datetimeFigureOut">
              <a:rPr lang="en-ID" smtClean="0"/>
              <a:t>14/10/2026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C6C8-E6CC-4634-8CDE-E64BB30D5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2F8CC-4253-4C3F-8010-0C0FD9E9C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5A50F-C254-46C2-A169-5091913BC3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796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14/relationships/chartEx" Target="../charts/chartEx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5E52-1440-4E3B-B8F2-5B765C3DA2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7C916-822F-4F6B-B11C-E8CB994664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 descr="A woven texture pattern">
            <a:extLst>
              <a:ext uri="{FF2B5EF4-FFF2-40B4-BE49-F238E27FC236}">
                <a16:creationId xmlns:a16="http://schemas.microsoft.com/office/drawing/2014/main" id="{E516C34E-13CC-43F6-9C24-5E20DC1F7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4" y="1270"/>
            <a:ext cx="12192000" cy="68554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5ED930-233C-4D2E-B3E4-DF4700AF2128}"/>
              </a:ext>
            </a:extLst>
          </p:cNvPr>
          <p:cNvSpPr/>
          <p:nvPr/>
        </p:nvSpPr>
        <p:spPr>
          <a:xfrm>
            <a:off x="1" y="0"/>
            <a:ext cx="1221850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  <a:gs pos="0">
                <a:srgbClr val="0070C0">
                  <a:alpha val="90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23338-04B7-402C-9E0C-640F647444EC}"/>
              </a:ext>
            </a:extLst>
          </p:cNvPr>
          <p:cNvSpPr txBox="1"/>
          <p:nvPr/>
        </p:nvSpPr>
        <p:spPr>
          <a:xfrm>
            <a:off x="4130211" y="1724105"/>
            <a:ext cx="69247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5400" b="1" dirty="0" err="1">
                <a:solidFill>
                  <a:schemeClr val="bg1"/>
                </a:solidFill>
              </a:rPr>
              <a:t>Analisis</a:t>
            </a:r>
            <a:r>
              <a:rPr lang="en-ID" sz="5400" b="1" dirty="0">
                <a:solidFill>
                  <a:schemeClr val="bg1"/>
                </a:solidFill>
              </a:rPr>
              <a:t> </a:t>
            </a:r>
            <a:r>
              <a:rPr lang="en-ID" sz="5400" b="1" dirty="0" err="1">
                <a:solidFill>
                  <a:schemeClr val="bg1"/>
                </a:solidFill>
              </a:rPr>
              <a:t>Faktor</a:t>
            </a:r>
            <a:r>
              <a:rPr lang="en-ID" sz="5400" b="1" dirty="0">
                <a:solidFill>
                  <a:schemeClr val="bg1"/>
                </a:solidFill>
              </a:rPr>
              <a:t> </a:t>
            </a:r>
            <a:r>
              <a:rPr lang="en-ID" sz="5400" b="1" dirty="0" err="1">
                <a:solidFill>
                  <a:schemeClr val="bg1"/>
                </a:solidFill>
              </a:rPr>
              <a:t>Perubahan</a:t>
            </a:r>
            <a:r>
              <a:rPr lang="en-ID" sz="5400" b="1" dirty="0">
                <a:solidFill>
                  <a:schemeClr val="bg1"/>
                </a:solidFill>
              </a:rPr>
              <a:t> Revenue 2023-2025</a:t>
            </a:r>
            <a:endParaRPr lang="en-ID" sz="5400" b="1" dirty="0">
              <a:solidFill>
                <a:schemeClr val="bg1"/>
              </a:solidFill>
              <a:latin typeface="Aharoni" panose="020B0604020202020204" pitchFamily="2" charset="-79"/>
              <a:cs typeface="Aharoni" panose="020B0604020202020204" pitchFamily="2" charset="-79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27E72F-B9A3-4DD9-85AA-474087B2115B}"/>
              </a:ext>
            </a:extLst>
          </p:cNvPr>
          <p:cNvSpPr/>
          <p:nvPr/>
        </p:nvSpPr>
        <p:spPr>
          <a:xfrm>
            <a:off x="0" y="-1270"/>
            <a:ext cx="3174715" cy="68592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5D329E-F5DA-446B-9C8B-477A647F0E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19" y="0"/>
            <a:ext cx="3174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70B8-408D-49AF-893D-E48C135F07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352425"/>
            <a:ext cx="10515600" cy="1325563"/>
          </a:xfrm>
        </p:spPr>
        <p:txBody>
          <a:bodyPr/>
          <a:lstStyle/>
          <a:p>
            <a:r>
              <a:rPr lang="en-ID" b="1" dirty="0">
                <a:latin typeface="Aharoni" panose="02010803020104030203" pitchFamily="2" charset="-79"/>
                <a:cs typeface="Aharoni" panose="02010803020104030203" pitchFamily="2" charset="-79"/>
              </a:rPr>
              <a:t>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7B222-CA86-403C-8111-A0F69DA87D1E}"/>
              </a:ext>
            </a:extLst>
          </p:cNvPr>
          <p:cNvSpPr txBox="1"/>
          <p:nvPr/>
        </p:nvSpPr>
        <p:spPr>
          <a:xfrm>
            <a:off x="838200" y="2577634"/>
            <a:ext cx="10890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b="1" dirty="0" err="1"/>
              <a:t>Faktor</a:t>
            </a:r>
            <a:r>
              <a:rPr lang="en-ID" sz="2800" b="1" dirty="0"/>
              <a:t> </a:t>
            </a:r>
            <a:r>
              <a:rPr lang="en-ID" sz="2800" b="1" dirty="0" err="1"/>
              <a:t>apa</a:t>
            </a:r>
            <a:r>
              <a:rPr lang="en-ID" sz="2800" b="1" dirty="0"/>
              <a:t> yang paling </a:t>
            </a:r>
            <a:r>
              <a:rPr lang="en-ID" sz="2800" b="1" dirty="0" err="1"/>
              <a:t>mempengaruhi</a:t>
            </a:r>
            <a:r>
              <a:rPr lang="en-ID" sz="2800" b="1" dirty="0"/>
              <a:t> </a:t>
            </a:r>
            <a:r>
              <a:rPr lang="en-ID" sz="2800" b="1" dirty="0" err="1"/>
              <a:t>penurunan</a:t>
            </a:r>
            <a:r>
              <a:rPr lang="en-ID" sz="2800" b="1" dirty="0"/>
              <a:t> dan </a:t>
            </a:r>
            <a:r>
              <a:rPr lang="en-ID" sz="2800" b="1" dirty="0" err="1"/>
              <a:t>peningkatan</a:t>
            </a:r>
            <a:r>
              <a:rPr lang="en-ID" sz="2800" b="1" dirty="0"/>
              <a:t> revenue </a:t>
            </a:r>
            <a:r>
              <a:rPr lang="en-ID" sz="2800" b="1" dirty="0" err="1"/>
              <a:t>perusahaan</a:t>
            </a:r>
            <a:r>
              <a:rPr lang="en-ID" sz="2800" b="1" dirty="0"/>
              <a:t>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94DD88-5B3D-4D7E-8378-F77D67BF5207}"/>
              </a:ext>
            </a:extLst>
          </p:cNvPr>
          <p:cNvCxnSpPr/>
          <p:nvPr/>
        </p:nvCxnSpPr>
        <p:spPr>
          <a:xfrm>
            <a:off x="-13255" y="1338470"/>
            <a:ext cx="4359965" cy="0"/>
          </a:xfrm>
          <a:prstGeom prst="line">
            <a:avLst/>
          </a:prstGeom>
          <a:ln w="41275">
            <a:solidFill>
              <a:schemeClr val="tx1"/>
            </a:solidFill>
            <a:head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78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49313-13D4-41F8-8EF7-5037B196B3A2}"/>
              </a:ext>
            </a:extLst>
          </p:cNvPr>
          <p:cNvGrpSpPr/>
          <p:nvPr/>
        </p:nvGrpSpPr>
        <p:grpSpPr>
          <a:xfrm>
            <a:off x="512018" y="426650"/>
            <a:ext cx="10284418" cy="1200329"/>
            <a:chOff x="955510" y="4261206"/>
            <a:chExt cx="10284418" cy="120032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B565527-4AFD-4E2A-A9E8-9DF4380D9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510" y="4271480"/>
              <a:ext cx="408968" cy="323364"/>
            </a:xfrm>
            <a:prstGeom prst="rect">
              <a:avLst/>
            </a:prstGeom>
            <a:noFill/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A22698A-3F92-4C4E-B207-611182CA96AF}"/>
                </a:ext>
              </a:extLst>
            </p:cNvPr>
            <p:cNvSpPr txBox="1"/>
            <p:nvPr/>
          </p:nvSpPr>
          <p:spPr>
            <a:xfrm>
              <a:off x="1325366" y="4261206"/>
              <a:ext cx="991456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dirty="0" err="1"/>
                <a:t>Selama</a:t>
              </a:r>
              <a:r>
                <a:rPr lang="en-ID" dirty="0"/>
                <a:t> 2023-2025, </a:t>
              </a:r>
              <a:r>
                <a:rPr lang="en-ID" dirty="0" err="1"/>
                <a:t>perubahan</a:t>
              </a:r>
              <a:r>
                <a:rPr lang="en-ID" dirty="0"/>
                <a:t> revenue </a:t>
              </a:r>
              <a:r>
                <a:rPr lang="en-ID" dirty="0" err="1"/>
                <a:t>lebih</a:t>
              </a:r>
              <a:r>
                <a:rPr lang="en-ID" dirty="0"/>
                <a:t> </a:t>
              </a:r>
              <a:r>
                <a:rPr lang="en-ID" dirty="0" err="1"/>
                <a:t>dipengaruhi</a:t>
              </a:r>
              <a:r>
                <a:rPr lang="en-ID" dirty="0"/>
                <a:t> oleh AOV </a:t>
              </a:r>
              <a:r>
                <a:rPr lang="en-ID" dirty="0" err="1"/>
                <a:t>dibandingkan</a:t>
              </a:r>
              <a:r>
                <a:rPr lang="en-ID" dirty="0"/>
                <a:t> </a:t>
              </a:r>
              <a:r>
                <a:rPr lang="en-ID" dirty="0" err="1"/>
                <a:t>jumlah</a:t>
              </a:r>
              <a:r>
                <a:rPr lang="en-ID" dirty="0"/>
                <a:t> </a:t>
              </a:r>
              <a:r>
                <a:rPr lang="en-ID" dirty="0" err="1"/>
                <a:t>transaksi</a:t>
              </a:r>
              <a:r>
                <a:rPr lang="en-ID" dirty="0"/>
                <a:t>. Pada 2024, revenue </a:t>
              </a:r>
              <a:r>
                <a:rPr lang="en-ID" dirty="0" err="1"/>
                <a:t>tumbuh</a:t>
              </a:r>
              <a:r>
                <a:rPr lang="en-ID" dirty="0"/>
                <a:t> 1,8% </a:t>
              </a:r>
              <a:r>
                <a:rPr lang="en-ID" dirty="0" err="1"/>
                <a:t>karena</a:t>
              </a:r>
              <a:r>
                <a:rPr lang="en-ID" dirty="0"/>
                <a:t> </a:t>
              </a:r>
              <a:r>
                <a:rPr lang="en-ID" b="1" dirty="0"/>
                <a:t>AOV naik 1,5%, </a:t>
              </a:r>
              <a:r>
                <a:rPr lang="en-ID" dirty="0" err="1"/>
                <a:t>sementara</a:t>
              </a:r>
              <a:r>
                <a:rPr lang="en-ID" dirty="0"/>
                <a:t> </a:t>
              </a:r>
              <a:r>
                <a:rPr lang="en-ID" dirty="0" err="1"/>
                <a:t>jumlah</a:t>
              </a:r>
              <a:r>
                <a:rPr lang="en-ID" dirty="0"/>
                <a:t> </a:t>
              </a:r>
              <a:r>
                <a:rPr lang="en-ID" dirty="0" err="1"/>
                <a:t>transaksi</a:t>
              </a:r>
              <a:r>
                <a:rPr lang="en-ID" dirty="0"/>
                <a:t> naik </a:t>
              </a:r>
              <a:r>
                <a:rPr lang="en-ID" dirty="0" err="1"/>
                <a:t>hanya</a:t>
              </a:r>
              <a:r>
                <a:rPr lang="en-ID" dirty="0"/>
                <a:t> 0,2%. </a:t>
              </a:r>
              <a:r>
                <a:rPr lang="en-ID" dirty="0" err="1"/>
                <a:t>Sebaliknya</a:t>
              </a:r>
              <a:r>
                <a:rPr lang="en-ID" dirty="0"/>
                <a:t>, pada 2025 revenue </a:t>
              </a:r>
              <a:r>
                <a:rPr lang="en-ID" dirty="0" err="1"/>
                <a:t>turun</a:t>
              </a:r>
              <a:r>
                <a:rPr lang="en-ID" dirty="0"/>
                <a:t> 3,1% </a:t>
              </a:r>
              <a:r>
                <a:rPr lang="en-ID" dirty="0" err="1"/>
                <a:t>akibat</a:t>
              </a:r>
              <a:r>
                <a:rPr lang="en-ID" dirty="0"/>
                <a:t> </a:t>
              </a:r>
              <a:r>
                <a:rPr lang="en-ID" b="1" dirty="0"/>
                <a:t>AOV </a:t>
              </a:r>
              <a:r>
                <a:rPr lang="en-ID" b="1" dirty="0" err="1"/>
                <a:t>turun</a:t>
              </a:r>
              <a:r>
                <a:rPr lang="en-ID" b="1" dirty="0"/>
                <a:t> 2,5%, </a:t>
              </a:r>
              <a:r>
                <a:rPr lang="en-ID" dirty="0" err="1"/>
                <a:t>sedangkan</a:t>
              </a:r>
              <a:r>
                <a:rPr lang="en-ID" dirty="0"/>
                <a:t> </a:t>
              </a:r>
              <a:r>
                <a:rPr lang="en-ID" dirty="0" err="1"/>
                <a:t>jumlah</a:t>
              </a:r>
              <a:r>
                <a:rPr lang="en-ID" dirty="0"/>
                <a:t> </a:t>
              </a:r>
              <a:r>
                <a:rPr lang="en-ID" dirty="0" err="1"/>
                <a:t>transaksi</a:t>
              </a:r>
              <a:r>
                <a:rPr lang="en-ID" dirty="0"/>
                <a:t> </a:t>
              </a:r>
              <a:r>
                <a:rPr lang="en-ID" dirty="0" err="1"/>
                <a:t>berkurang</a:t>
              </a:r>
              <a:r>
                <a:rPr lang="en-ID" dirty="0"/>
                <a:t> 0,6%.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DF7E90C-15BE-4F70-9D1F-D20ACEEFBB3A}"/>
              </a:ext>
            </a:extLst>
          </p:cNvPr>
          <p:cNvGrpSpPr/>
          <p:nvPr/>
        </p:nvGrpSpPr>
        <p:grpSpPr>
          <a:xfrm>
            <a:off x="215255" y="2492365"/>
            <a:ext cx="12079108" cy="3168695"/>
            <a:chOff x="215255" y="2492365"/>
            <a:chExt cx="12079108" cy="3168695"/>
          </a:xfrm>
        </p:grpSpPr>
        <p:graphicFrame>
          <p:nvGraphicFramePr>
            <p:cNvPr id="21" name="Chart 20">
              <a:extLst>
                <a:ext uri="{FF2B5EF4-FFF2-40B4-BE49-F238E27FC236}">
                  <a16:creationId xmlns:a16="http://schemas.microsoft.com/office/drawing/2014/main" id="{B9A400BA-4308-4B73-9A5B-489047CF4CF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79019275"/>
                </p:ext>
              </p:extLst>
            </p:nvPr>
          </p:nvGraphicFramePr>
          <p:xfrm>
            <a:off x="215255" y="2492366"/>
            <a:ext cx="4403936" cy="311894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9" name="Chart 18">
              <a:extLst>
                <a:ext uri="{FF2B5EF4-FFF2-40B4-BE49-F238E27FC236}">
                  <a16:creationId xmlns:a16="http://schemas.microsoft.com/office/drawing/2014/main" id="{B9A1A430-CFDB-4C82-9A59-B5E05F520B5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30108980"/>
                </p:ext>
              </p:extLst>
            </p:nvPr>
          </p:nvGraphicFramePr>
          <p:xfrm>
            <a:off x="4543835" y="2492365"/>
            <a:ext cx="4055256" cy="3168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20" name="Chart 19">
              <a:extLst>
                <a:ext uri="{FF2B5EF4-FFF2-40B4-BE49-F238E27FC236}">
                  <a16:creationId xmlns:a16="http://schemas.microsoft.com/office/drawing/2014/main" id="{54036EEC-39EE-4F08-931B-8769E482520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07281529"/>
                </p:ext>
              </p:extLst>
            </p:nvPr>
          </p:nvGraphicFramePr>
          <p:xfrm>
            <a:off x="8343599" y="2492365"/>
            <a:ext cx="3950764" cy="3168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A64D660-42F5-4F3D-9C55-995DBF66EAA2}"/>
                </a:ext>
              </a:extLst>
            </p:cNvPr>
            <p:cNvGrpSpPr/>
            <p:nvPr/>
          </p:nvGrpSpPr>
          <p:grpSpPr>
            <a:xfrm>
              <a:off x="6343302" y="4008354"/>
              <a:ext cx="5515193" cy="338856"/>
              <a:chOff x="6343302" y="4006165"/>
              <a:chExt cx="5515193" cy="341045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E9C481-B794-4DCA-9C43-48A26D7651EA}"/>
                  </a:ext>
                </a:extLst>
              </p:cNvPr>
              <p:cNvSpPr txBox="1"/>
              <p:nvPr/>
            </p:nvSpPr>
            <p:spPr>
              <a:xfrm>
                <a:off x="6343302" y="4065052"/>
                <a:ext cx="57535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</a:rPr>
                  <a:t>0,2%</a:t>
                </a:r>
                <a:endParaRPr lang="en-ID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AD1220-11CA-45B9-9068-914855BC9941}"/>
                  </a:ext>
                </a:extLst>
              </p:cNvPr>
              <p:cNvSpPr txBox="1"/>
              <p:nvPr/>
            </p:nvSpPr>
            <p:spPr>
              <a:xfrm>
                <a:off x="7572810" y="4085600"/>
                <a:ext cx="57535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</a:rPr>
                  <a:t>-0,6%</a:t>
                </a:r>
                <a:endParaRPr lang="en-ID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7DB22D-5CB4-413A-918E-1D7E05DE5683}"/>
                  </a:ext>
                </a:extLst>
              </p:cNvPr>
              <p:cNvSpPr txBox="1"/>
              <p:nvPr/>
            </p:nvSpPr>
            <p:spPr>
              <a:xfrm>
                <a:off x="10094730" y="4044850"/>
                <a:ext cx="57535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</a:rPr>
                  <a:t>1,5%</a:t>
                </a:r>
                <a:endParaRPr lang="en-ID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CEBB74-A3DE-4249-A250-D7169C331A36}"/>
                  </a:ext>
                </a:extLst>
              </p:cNvPr>
              <p:cNvSpPr txBox="1"/>
              <p:nvPr/>
            </p:nvSpPr>
            <p:spPr>
              <a:xfrm>
                <a:off x="11283142" y="4006165"/>
                <a:ext cx="57535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</a:rPr>
                  <a:t>-2,5%</a:t>
                </a:r>
                <a:endParaRPr lang="en-ID" sz="11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44D0C9-3780-4718-933F-4BB80E881AB0}"/>
                </a:ext>
              </a:extLst>
            </p:cNvPr>
            <p:cNvSpPr txBox="1"/>
            <p:nvPr/>
          </p:nvSpPr>
          <p:spPr>
            <a:xfrm>
              <a:off x="3522812" y="4136970"/>
              <a:ext cx="5753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-3,1%</a:t>
              </a:r>
              <a:endParaRPr lang="en-ID" sz="11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5FA131-4496-4A9E-9E0F-75CBBEA7BF3E}"/>
                </a:ext>
              </a:extLst>
            </p:cNvPr>
            <p:cNvSpPr txBox="1"/>
            <p:nvPr/>
          </p:nvSpPr>
          <p:spPr>
            <a:xfrm>
              <a:off x="2167932" y="4136970"/>
              <a:ext cx="5753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1,8%</a:t>
              </a:r>
              <a:endParaRPr lang="en-ID" sz="11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078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ED52BE8-6321-4675-AA25-3693F589AA0E}"/>
              </a:ext>
            </a:extLst>
          </p:cNvPr>
          <p:cNvGrpSpPr/>
          <p:nvPr/>
        </p:nvGrpSpPr>
        <p:grpSpPr>
          <a:xfrm>
            <a:off x="895133" y="1115435"/>
            <a:ext cx="10401734" cy="5583316"/>
            <a:chOff x="458050" y="262680"/>
            <a:chExt cx="10689413" cy="6199079"/>
          </a:xfrm>
        </p:grpSpPr>
        <p:graphicFrame>
          <p:nvGraphicFramePr>
            <p:cNvPr id="2" name="Chart 1">
              <a:extLst>
                <a:ext uri="{FF2B5EF4-FFF2-40B4-BE49-F238E27FC236}">
                  <a16:creationId xmlns:a16="http://schemas.microsoft.com/office/drawing/2014/main" id="{B559BAC4-26E4-423D-AB09-76E713511FE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51121986"/>
                </p:ext>
              </p:extLst>
            </p:nvPr>
          </p:nvGraphicFramePr>
          <p:xfrm>
            <a:off x="6240959" y="262680"/>
            <a:ext cx="4885959" cy="288121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BB374859-6224-455C-9161-335780045EB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47805752"/>
                </p:ext>
              </p:extLst>
            </p:nvPr>
          </p:nvGraphicFramePr>
          <p:xfrm>
            <a:off x="6261504" y="3580545"/>
            <a:ext cx="4885959" cy="288121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76B48DE-DD38-4606-8A28-8BD9D41B7A40}"/>
                </a:ext>
              </a:extLst>
            </p:cNvPr>
            <p:cNvGrpSpPr/>
            <p:nvPr/>
          </p:nvGrpSpPr>
          <p:grpSpPr>
            <a:xfrm>
              <a:off x="458050" y="704468"/>
              <a:ext cx="4339981" cy="4761575"/>
              <a:chOff x="458050" y="704468"/>
              <a:chExt cx="4339981" cy="4761575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2A42F5-6F25-43B0-89A7-5654FF221AA3}"/>
                  </a:ext>
                </a:extLst>
              </p:cNvPr>
              <p:cNvSpPr txBox="1"/>
              <p:nvPr/>
            </p:nvSpPr>
            <p:spPr>
              <a:xfrm>
                <a:off x="811659" y="704468"/>
                <a:ext cx="3986372" cy="2016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1600" b="1" dirty="0">
                    <a:solidFill>
                      <a:schemeClr val="accent1"/>
                    </a:solidFill>
                  </a:rPr>
                  <a:t>Realisasi harga 36,6% </a:t>
                </a:r>
                <a:r>
                  <a:rPr lang="en-ID" sz="1600" b="1" dirty="0" err="1"/>
                  <a:t>adalah</a:t>
                </a:r>
                <a:r>
                  <a:rPr lang="en-ID" sz="1600" b="1" dirty="0"/>
                  <a:t> </a:t>
                </a:r>
                <a:r>
                  <a:rPr lang="en-ID" sz="1600" b="1" dirty="0" err="1"/>
                  <a:t>faktor</a:t>
                </a:r>
                <a:r>
                  <a:rPr lang="en-ID" sz="1600" b="1" dirty="0"/>
                  <a:t> </a:t>
                </a:r>
                <a:r>
                  <a:rPr lang="en-ID" sz="1600" b="1" dirty="0" err="1"/>
                  <a:t>terbesar</a:t>
                </a:r>
                <a:r>
                  <a:rPr lang="en-ID" sz="1600" b="1" dirty="0"/>
                  <a:t> </a:t>
                </a:r>
                <a:r>
                  <a:rPr lang="en-ID" sz="1600" b="1" dirty="0" err="1"/>
                  <a:t>penurunan</a:t>
                </a:r>
                <a:r>
                  <a:rPr lang="en-ID" sz="1600" b="1" dirty="0"/>
                  <a:t> AOV 2025. </a:t>
                </a:r>
                <a:r>
                  <a:rPr lang="en-ID" sz="1600" dirty="0"/>
                  <a:t>Nilai per unit </a:t>
                </a:r>
                <a:r>
                  <a:rPr lang="en-ID" sz="1600" dirty="0" err="1"/>
                  <a:t>terhadap</a:t>
                </a:r>
                <a:r>
                  <a:rPr lang="en-ID" sz="1600" dirty="0"/>
                  <a:t> harga list </a:t>
                </a:r>
                <a:r>
                  <a:rPr lang="en-ID" sz="1600" dirty="0" err="1"/>
                  <a:t>melemah</a:t>
                </a:r>
                <a:r>
                  <a:rPr lang="en-ID" sz="1600" dirty="0"/>
                  <a:t> </a:t>
                </a:r>
                <a:r>
                  <a:rPr lang="en-ID" sz="1600" dirty="0" err="1"/>
                  <a:t>dari</a:t>
                </a:r>
                <a:r>
                  <a:rPr lang="en-ID" sz="1600" dirty="0"/>
                  <a:t> 0,9611 </a:t>
                </a:r>
                <a:r>
                  <a:rPr lang="en-ID" sz="1600" dirty="0" err="1"/>
                  <a:t>menjadi</a:t>
                </a:r>
                <a:r>
                  <a:rPr lang="en-ID" sz="1600" dirty="0"/>
                  <a:t> 0,9521, </a:t>
                </a:r>
                <a:r>
                  <a:rPr lang="en-ID" sz="1600" dirty="0" err="1"/>
                  <a:t>setara</a:t>
                </a:r>
                <a:r>
                  <a:rPr lang="en-ID" sz="1600" dirty="0"/>
                  <a:t> Rp48.438 per </a:t>
                </a:r>
                <a:r>
                  <a:rPr lang="en-ID" sz="1600" dirty="0" err="1"/>
                  <a:t>transaksi</a:t>
                </a:r>
                <a:r>
                  <a:rPr lang="en-ID" sz="1600" dirty="0"/>
                  <a:t>.</a:t>
                </a:r>
              </a:p>
              <a:p>
                <a:r>
                  <a:rPr lang="en-ID" sz="1600" b="1" dirty="0" err="1"/>
                  <a:t>Namun</a:t>
                </a:r>
                <a:r>
                  <a:rPr lang="en-ID" sz="1600" b="1" dirty="0"/>
                  <a:t> </a:t>
                </a:r>
                <a:r>
                  <a:rPr lang="en-ID" sz="1600" b="1" dirty="0" err="1"/>
                  <a:t>dua</a:t>
                </a:r>
                <a:r>
                  <a:rPr lang="en-ID" sz="1600" b="1" dirty="0"/>
                  <a:t> </a:t>
                </a:r>
                <a:r>
                  <a:rPr lang="en-ID" sz="1600" b="1" dirty="0" err="1"/>
                  <a:t>faktor</a:t>
                </a:r>
                <a:r>
                  <a:rPr lang="en-ID" sz="1600" b="1" dirty="0"/>
                  <a:t> lain </a:t>
                </a:r>
                <a:r>
                  <a:rPr lang="en-ID" sz="1600" b="1" dirty="0" err="1"/>
                  <a:t>berkontribusi</a:t>
                </a:r>
                <a:r>
                  <a:rPr lang="en-ID" sz="1600" b="1" dirty="0"/>
                  <a:t> </a:t>
                </a:r>
                <a:r>
                  <a:rPr lang="en-ID" sz="1600" b="1" dirty="0" err="1"/>
                  <a:t>hampir</a:t>
                </a:r>
                <a:r>
                  <a:rPr lang="en-ID" sz="1600" b="1" dirty="0"/>
                  <a:t> </a:t>
                </a:r>
                <a:r>
                  <a:rPr lang="en-ID" sz="1600" b="1" dirty="0" err="1"/>
                  <a:t>sama</a:t>
                </a:r>
                <a:r>
                  <a:rPr lang="en-ID" sz="1600" b="1" dirty="0"/>
                  <a:t> </a:t>
                </a:r>
                <a:r>
                  <a:rPr lang="en-ID" sz="1600" b="1" dirty="0" err="1"/>
                  <a:t>besar</a:t>
                </a:r>
                <a:r>
                  <a:rPr lang="en-ID" sz="1600" b="1" dirty="0"/>
                  <a:t>.</a:t>
                </a:r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1AF3E00-EA18-4472-97EB-1927A8F413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8050" y="719188"/>
                <a:ext cx="339049" cy="339049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CA944F-AE1C-432E-85BE-B44AC1679719}"/>
                  </a:ext>
                </a:extLst>
              </p:cNvPr>
              <p:cNvSpPr txBox="1"/>
              <p:nvPr/>
            </p:nvSpPr>
            <p:spPr>
              <a:xfrm>
                <a:off x="801387" y="3996647"/>
                <a:ext cx="3821986" cy="1469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1600" b="1" dirty="0">
                    <a:solidFill>
                      <a:schemeClr val="accent1"/>
                    </a:solidFill>
                  </a:rPr>
                  <a:t>Unit per transaksi 71,4% </a:t>
                </a:r>
                <a:r>
                  <a:rPr lang="sv-SE" sz="1600" b="1" dirty="0"/>
                  <a:t>adalah penggerak utama kenaikan AOV 2024. </a:t>
                </a:r>
                <a:r>
                  <a:rPr lang="sv-SE" sz="1600" dirty="0"/>
                  <a:t>UPT naik dari 1,292 menjadi 1,306, setara Rp56.231 per transaksi, sedangkan faktor lain berkontribusi kecil.</a:t>
                </a:r>
                <a:endParaRPr lang="en-ID" sz="1600" dirty="0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FD2C283-979B-4422-B26C-D3378681A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4322" y="3998602"/>
                <a:ext cx="339049" cy="339049"/>
              </a:xfrm>
              <a:prstGeom prst="rect">
                <a:avLst/>
              </a:prstGeom>
            </p:spPr>
          </p:pic>
        </p:grp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DAE68C3-8F60-4295-9401-D0C078661C43}"/>
              </a:ext>
            </a:extLst>
          </p:cNvPr>
          <p:cNvSpPr/>
          <p:nvPr/>
        </p:nvSpPr>
        <p:spPr>
          <a:xfrm>
            <a:off x="0" y="0"/>
            <a:ext cx="12192000" cy="8938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152CF-8313-4E36-B4B1-294DAAF53AF8}"/>
              </a:ext>
            </a:extLst>
          </p:cNvPr>
          <p:cNvSpPr txBox="1"/>
          <p:nvPr/>
        </p:nvSpPr>
        <p:spPr>
          <a:xfrm>
            <a:off x="164387" y="174660"/>
            <a:ext cx="9894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Faktor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mempengaruhi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AOV</a:t>
            </a:r>
            <a:endParaRPr lang="en-ID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426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5D9CB2-8003-45EA-8CE3-08312DB77BC5}"/>
              </a:ext>
            </a:extLst>
          </p:cNvPr>
          <p:cNvSpPr/>
          <p:nvPr/>
        </p:nvSpPr>
        <p:spPr>
          <a:xfrm>
            <a:off x="0" y="-61645"/>
            <a:ext cx="12192000" cy="8938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DE934-7616-44EC-B278-43D731C48154}"/>
              </a:ext>
            </a:extLst>
          </p:cNvPr>
          <p:cNvSpPr txBox="1"/>
          <p:nvPr/>
        </p:nvSpPr>
        <p:spPr>
          <a:xfrm>
            <a:off x="164387" y="174660"/>
            <a:ext cx="9894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Faktor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mempengaruhi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revenue </a:t>
            </a:r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berdasarkan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promo</a:t>
            </a:r>
            <a:endParaRPr lang="en-ID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C30C3EB5-EB23-4F75-A307-2C4E8B1B7F7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8117024"/>
                  </p:ext>
                </p:extLst>
              </p:nvPr>
            </p:nvGraphicFramePr>
            <p:xfrm>
              <a:off x="912688" y="3335823"/>
              <a:ext cx="4583066" cy="302644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C30C3EB5-EB23-4F75-A307-2C4E8B1B7F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688" y="3335823"/>
                <a:ext cx="4583066" cy="3026449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879FF00F-76FE-49E1-87F5-C9695EF27E39}"/>
              </a:ext>
            </a:extLst>
          </p:cNvPr>
          <p:cNvGrpSpPr/>
          <p:nvPr/>
        </p:nvGrpSpPr>
        <p:grpSpPr>
          <a:xfrm>
            <a:off x="6707312" y="1294543"/>
            <a:ext cx="4572000" cy="5067729"/>
            <a:chOff x="532544" y="1160979"/>
            <a:chExt cx="4572000" cy="5067729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7" name="Chart 6">
                  <a:extLst>
                    <a:ext uri="{FF2B5EF4-FFF2-40B4-BE49-F238E27FC236}">
                      <a16:creationId xmlns:a16="http://schemas.microsoft.com/office/drawing/2014/main" id="{62A64220-293D-4128-ACE9-27D5114C634C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3953262839"/>
                    </p:ext>
                  </p:extLst>
                </p:nvPr>
              </p:nvGraphicFramePr>
              <p:xfrm>
                <a:off x="532544" y="3485508"/>
                <a:ext cx="4572000" cy="2743200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5"/>
                </a:graphicData>
              </a:graphic>
            </p:graphicFrame>
          </mc:Choice>
          <mc:Fallback xmlns="">
            <p:pic>
              <p:nvPicPr>
                <p:cNvPr id="7" name="Chart 6">
                  <a:extLst>
                    <a:ext uri="{FF2B5EF4-FFF2-40B4-BE49-F238E27FC236}">
                      <a16:creationId xmlns:a16="http://schemas.microsoft.com/office/drawing/2014/main" id="{62A64220-293D-4128-ACE9-27D5114C634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07312" y="3619072"/>
                  <a:ext cx="4572000" cy="27432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CB83E0-CCAB-4731-9EF2-020564B2D00C}"/>
                </a:ext>
              </a:extLst>
            </p:cNvPr>
            <p:cNvSpPr txBox="1"/>
            <p:nvPr/>
          </p:nvSpPr>
          <p:spPr>
            <a:xfrm>
              <a:off x="532544" y="1160979"/>
              <a:ext cx="442644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Penurunan</a:t>
              </a:r>
              <a:r>
                <a:rPr lang="en-US" dirty="0"/>
                <a:t> revenue </a:t>
              </a:r>
              <a:r>
                <a:rPr lang="en-US" dirty="0" err="1"/>
                <a:t>tahun</a:t>
              </a:r>
              <a:r>
                <a:rPr lang="en-US" dirty="0"/>
                <a:t> 2025 </a:t>
              </a:r>
              <a:r>
                <a:rPr lang="en-US" dirty="0" err="1"/>
                <a:t>disebabkan</a:t>
              </a:r>
              <a:r>
                <a:rPr lang="en-US" dirty="0"/>
                <a:t> </a:t>
              </a:r>
              <a:r>
                <a:rPr lang="en-US" dirty="0" err="1"/>
                <a:t>hilangnya</a:t>
              </a:r>
              <a:r>
                <a:rPr lang="en-US" dirty="0"/>
                <a:t> </a:t>
              </a:r>
              <a:r>
                <a:rPr lang="en-US" b="1" dirty="0">
                  <a:solidFill>
                    <a:schemeClr val="accent2"/>
                  </a:solidFill>
                </a:rPr>
                <a:t>Promo cashback 1,73M</a:t>
              </a:r>
              <a:r>
                <a:rPr lang="en-US" dirty="0"/>
                <a:t>, dan </a:t>
              </a:r>
              <a:r>
                <a:rPr lang="en-US" dirty="0" err="1"/>
                <a:t>diikuti</a:t>
              </a:r>
              <a:r>
                <a:rPr lang="en-US" dirty="0"/>
                <a:t> </a:t>
              </a:r>
              <a:r>
                <a:rPr lang="en-US" dirty="0" err="1"/>
                <a:t>Tanpa</a:t>
              </a:r>
              <a:r>
                <a:rPr lang="en-US" dirty="0"/>
                <a:t> </a:t>
              </a:r>
              <a:r>
                <a:rPr lang="en-US" dirty="0" err="1"/>
                <a:t>Promosi</a:t>
              </a:r>
              <a:r>
                <a:rPr lang="en-US" dirty="0"/>
                <a:t> dan </a:t>
              </a:r>
              <a:r>
                <a:rPr lang="en-US" dirty="0" err="1"/>
                <a:t>Diskon</a:t>
              </a:r>
              <a:r>
                <a:rPr lang="en-US" dirty="0"/>
                <a:t>.</a:t>
              </a:r>
            </a:p>
            <a:p>
              <a:r>
                <a:rPr lang="en-US" b="1" dirty="0">
                  <a:solidFill>
                    <a:schemeClr val="accent5">
                      <a:lumMod val="75000"/>
                    </a:schemeClr>
                  </a:solidFill>
                </a:rPr>
                <a:t>Bundling 208jt </a:t>
              </a:r>
              <a:r>
                <a:rPr lang="en-US" dirty="0" err="1"/>
                <a:t>menjadi</a:t>
              </a:r>
              <a:r>
                <a:rPr lang="en-US" dirty="0"/>
                <a:t> </a:t>
              </a:r>
              <a:r>
                <a:rPr lang="en-US" dirty="0" err="1"/>
                <a:t>satu-satunya</a:t>
              </a:r>
              <a:r>
                <a:rPr lang="en-US" dirty="0"/>
                <a:t> yang naik dan </a:t>
              </a:r>
              <a:r>
                <a:rPr lang="en-US" dirty="0" err="1"/>
                <a:t>menahan</a:t>
              </a:r>
              <a:r>
                <a:rPr lang="en-US" dirty="0"/>
                <a:t> </a:t>
              </a:r>
              <a:r>
                <a:rPr lang="en-US" b="1" dirty="0" err="1"/>
                <a:t>penurunan</a:t>
              </a:r>
              <a:r>
                <a:rPr lang="en-US" b="1" dirty="0"/>
                <a:t> total.</a:t>
              </a:r>
              <a:endParaRPr lang="en-ID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24AB6D2-94FD-438C-B3C7-B6B56FBCDC60}"/>
              </a:ext>
            </a:extLst>
          </p:cNvPr>
          <p:cNvSpPr txBox="1"/>
          <p:nvPr/>
        </p:nvSpPr>
        <p:spPr>
          <a:xfrm>
            <a:off x="912688" y="1391584"/>
            <a:ext cx="4426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Kenaikan</a:t>
            </a:r>
            <a:r>
              <a:rPr lang="en-ID" dirty="0"/>
              <a:t> revenue </a:t>
            </a:r>
            <a:r>
              <a:rPr lang="en-ID" dirty="0" err="1"/>
              <a:t>tahun</a:t>
            </a:r>
            <a:r>
              <a:rPr lang="en-ID" dirty="0"/>
              <a:t> 2024 </a:t>
            </a:r>
            <a:r>
              <a:rPr lang="en-ID" b="1" dirty="0" err="1"/>
              <a:t>didorong</a:t>
            </a:r>
            <a:r>
              <a:rPr lang="en-ID" dirty="0"/>
              <a:t> oleh </a:t>
            </a:r>
            <a:r>
              <a:rPr lang="en-ID" b="1" dirty="0">
                <a:solidFill>
                  <a:schemeClr val="accent1"/>
                </a:solidFill>
              </a:rPr>
              <a:t>Promo Cashback 1,73M</a:t>
            </a:r>
            <a:r>
              <a:rPr lang="en-ID" dirty="0">
                <a:solidFill>
                  <a:schemeClr val="accent1"/>
                </a:solidFill>
              </a:rPr>
              <a:t> </a:t>
            </a:r>
            <a:r>
              <a:rPr lang="en-ID" dirty="0"/>
              <a:t>dan Tanpa Promosi. Di </a:t>
            </a:r>
            <a:r>
              <a:rPr lang="en-ID" dirty="0" err="1"/>
              <a:t>sisi</a:t>
            </a:r>
            <a:r>
              <a:rPr lang="en-ID" dirty="0"/>
              <a:t> lain, </a:t>
            </a:r>
            <a:r>
              <a:rPr lang="en-ID" dirty="0" err="1"/>
              <a:t>penurunan</a:t>
            </a:r>
            <a:r>
              <a:rPr lang="en-ID" dirty="0"/>
              <a:t> </a:t>
            </a:r>
            <a:r>
              <a:rPr lang="en-ID" b="1" dirty="0">
                <a:solidFill>
                  <a:schemeClr val="accent2"/>
                </a:solidFill>
              </a:rPr>
              <a:t>Bundling 740jt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b="1" dirty="0" err="1"/>
              <a:t>kenaikan</a:t>
            </a:r>
            <a:r>
              <a:rPr lang="en-ID" b="1" dirty="0"/>
              <a:t> total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011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16BBE3-89A6-4782-9794-437C3F9D4516}"/>
              </a:ext>
            </a:extLst>
          </p:cNvPr>
          <p:cNvSpPr/>
          <p:nvPr/>
        </p:nvSpPr>
        <p:spPr>
          <a:xfrm>
            <a:off x="0" y="-51709"/>
            <a:ext cx="12192000" cy="8938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6B8C2-D089-4B22-999F-10A6D9ED5595}"/>
              </a:ext>
            </a:extLst>
          </p:cNvPr>
          <p:cNvSpPr txBox="1"/>
          <p:nvPr/>
        </p:nvSpPr>
        <p:spPr>
          <a:xfrm>
            <a:off x="164387" y="133562"/>
            <a:ext cx="9894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Rekomendasi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bisnis</a:t>
            </a:r>
            <a:endParaRPr lang="en-ID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7BF24-4E75-42BB-A28D-3C437C190141}"/>
              </a:ext>
            </a:extLst>
          </p:cNvPr>
          <p:cNvSpPr txBox="1"/>
          <p:nvPr/>
        </p:nvSpPr>
        <p:spPr>
          <a:xfrm>
            <a:off x="606175" y="1592494"/>
            <a:ext cx="69658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D" dirty="0" err="1"/>
              <a:t>Evaluasi</a:t>
            </a:r>
            <a:r>
              <a:rPr lang="en-ID" dirty="0"/>
              <a:t> promo Cashback </a:t>
            </a:r>
            <a:r>
              <a:rPr lang="en-ID" dirty="0" err="1"/>
              <a:t>terlebih</a:t>
            </a:r>
            <a:r>
              <a:rPr lang="en-ID" dirty="0"/>
              <a:t> </a:t>
            </a:r>
            <a:r>
              <a:rPr lang="en-ID" dirty="0" err="1"/>
              <a:t>dahulu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pergerakannya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revenue 2024 dan 2025</a:t>
            </a:r>
          </a:p>
          <a:p>
            <a:pPr marL="285750" indent="-285750">
              <a:buFontTx/>
              <a:buChar char="-"/>
            </a:pPr>
            <a:endParaRPr lang="en-ID" b="1" dirty="0"/>
          </a:p>
          <a:p>
            <a:pPr marL="285750" indent="-285750">
              <a:buFontTx/>
              <a:buChar char="-"/>
            </a:pPr>
            <a:r>
              <a:rPr lang="en-ID" dirty="0" err="1"/>
              <a:t>Pulihkan</a:t>
            </a:r>
            <a:r>
              <a:rPr lang="en-ID" dirty="0"/>
              <a:t> AOV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mengendalikan</a:t>
            </a:r>
            <a:r>
              <a:rPr lang="en-ID" dirty="0"/>
              <a:t> </a:t>
            </a:r>
            <a:r>
              <a:rPr lang="en-ID" dirty="0" err="1"/>
              <a:t>diskon</a:t>
            </a:r>
            <a:r>
              <a:rPr lang="en-ID" dirty="0"/>
              <a:t>, </a:t>
            </a:r>
            <a:r>
              <a:rPr lang="en-ID" dirty="0" err="1"/>
              <a:t>memperkuat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 model premium, dan </a:t>
            </a:r>
            <a:r>
              <a:rPr lang="en-ID" dirty="0" err="1"/>
              <a:t>meningkatkan</a:t>
            </a:r>
            <a:r>
              <a:rPr lang="en-ID" dirty="0"/>
              <a:t> unit per </a:t>
            </a:r>
            <a:r>
              <a:rPr lang="en-ID" dirty="0" err="1"/>
              <a:t>transaksi</a:t>
            </a:r>
            <a:r>
              <a:rPr lang="en-ID" dirty="0"/>
              <a:t>.</a:t>
            </a:r>
            <a:endParaRPr lang="en-ID" b="1" dirty="0"/>
          </a:p>
          <a:p>
            <a:pPr marL="285750" indent="-285750">
              <a:buFontTx/>
              <a:buChar char="-"/>
            </a:pPr>
            <a:endParaRPr lang="en-ID" b="1" dirty="0"/>
          </a:p>
          <a:p>
            <a:pPr marL="285750" indent="-285750">
              <a:buFontTx/>
              <a:buChar char="-"/>
            </a:pPr>
            <a:r>
              <a:rPr lang="en-ID" dirty="0" err="1"/>
              <a:t>Jadikan</a:t>
            </a:r>
            <a:r>
              <a:rPr lang="en-ID" dirty="0"/>
              <a:t> Bundling </a:t>
            </a:r>
            <a:r>
              <a:rPr lang="en-ID" dirty="0" err="1"/>
              <a:t>kandidat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menaikkan</a:t>
            </a:r>
            <a:r>
              <a:rPr lang="en-ID" dirty="0"/>
              <a:t> unit per </a:t>
            </a:r>
            <a:r>
              <a:rPr lang="en-ID" dirty="0" err="1"/>
              <a:t>transaksi</a:t>
            </a:r>
            <a:r>
              <a:rPr lang="en-ID" dirty="0"/>
              <a:t>.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43735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C82540-CE4B-4881-9780-311038C64022}"/>
              </a:ext>
            </a:extLst>
          </p:cNvPr>
          <p:cNvSpPr/>
          <p:nvPr/>
        </p:nvSpPr>
        <p:spPr>
          <a:xfrm>
            <a:off x="0" y="-51709"/>
            <a:ext cx="12192000" cy="8938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78F99-2D1C-4BC2-A253-DFD9424B8299}"/>
              </a:ext>
            </a:extLst>
          </p:cNvPr>
          <p:cNvSpPr/>
          <p:nvPr/>
        </p:nvSpPr>
        <p:spPr>
          <a:xfrm>
            <a:off x="0" y="-82531"/>
            <a:ext cx="12192000" cy="8938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AD08A-991B-4444-8C96-24EBFA2EA639}"/>
              </a:ext>
            </a:extLst>
          </p:cNvPr>
          <p:cNvSpPr txBox="1"/>
          <p:nvPr/>
        </p:nvSpPr>
        <p:spPr>
          <a:xfrm>
            <a:off x="164387" y="133562"/>
            <a:ext cx="9894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</a:t>
            </a:r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pendukung</a:t>
            </a:r>
            <a:endParaRPr lang="en-ID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A071711-A343-4D9A-B4FE-EBBC37159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62179"/>
              </p:ext>
            </p:extLst>
          </p:nvPr>
        </p:nvGraphicFramePr>
        <p:xfrm>
          <a:off x="0" y="872965"/>
          <a:ext cx="12113232" cy="260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154">
                  <a:extLst>
                    <a:ext uri="{9D8B030D-6E8A-4147-A177-3AD203B41FA5}">
                      <a16:colId xmlns:a16="http://schemas.microsoft.com/office/drawing/2014/main" val="1362004119"/>
                    </a:ext>
                  </a:extLst>
                </a:gridCol>
                <a:gridCol w="1514154">
                  <a:extLst>
                    <a:ext uri="{9D8B030D-6E8A-4147-A177-3AD203B41FA5}">
                      <a16:colId xmlns:a16="http://schemas.microsoft.com/office/drawing/2014/main" val="1090760422"/>
                    </a:ext>
                  </a:extLst>
                </a:gridCol>
                <a:gridCol w="1514154">
                  <a:extLst>
                    <a:ext uri="{9D8B030D-6E8A-4147-A177-3AD203B41FA5}">
                      <a16:colId xmlns:a16="http://schemas.microsoft.com/office/drawing/2014/main" val="823522056"/>
                    </a:ext>
                  </a:extLst>
                </a:gridCol>
                <a:gridCol w="1514154">
                  <a:extLst>
                    <a:ext uri="{9D8B030D-6E8A-4147-A177-3AD203B41FA5}">
                      <a16:colId xmlns:a16="http://schemas.microsoft.com/office/drawing/2014/main" val="2759026"/>
                    </a:ext>
                  </a:extLst>
                </a:gridCol>
                <a:gridCol w="1514154">
                  <a:extLst>
                    <a:ext uri="{9D8B030D-6E8A-4147-A177-3AD203B41FA5}">
                      <a16:colId xmlns:a16="http://schemas.microsoft.com/office/drawing/2014/main" val="1849965556"/>
                    </a:ext>
                  </a:extLst>
                </a:gridCol>
                <a:gridCol w="1514154">
                  <a:extLst>
                    <a:ext uri="{9D8B030D-6E8A-4147-A177-3AD203B41FA5}">
                      <a16:colId xmlns:a16="http://schemas.microsoft.com/office/drawing/2014/main" val="2229178011"/>
                    </a:ext>
                  </a:extLst>
                </a:gridCol>
                <a:gridCol w="1514154">
                  <a:extLst>
                    <a:ext uri="{9D8B030D-6E8A-4147-A177-3AD203B41FA5}">
                      <a16:colId xmlns:a16="http://schemas.microsoft.com/office/drawing/2014/main" val="2100126247"/>
                    </a:ext>
                  </a:extLst>
                </a:gridCol>
                <a:gridCol w="1514154">
                  <a:extLst>
                    <a:ext uri="{9D8B030D-6E8A-4147-A177-3AD203B41FA5}">
                      <a16:colId xmlns:a16="http://schemas.microsoft.com/office/drawing/2014/main" val="3977310196"/>
                    </a:ext>
                  </a:extLst>
                </a:gridCol>
              </a:tblGrid>
              <a:tr h="43494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Promo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Revenue 2023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Revenue 2024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Revenue</a:t>
                      </a:r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025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Selisih</a:t>
                      </a:r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2024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Selisih</a:t>
                      </a:r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2025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Porsi</a:t>
                      </a:r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2024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Porsi</a:t>
                      </a:r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2025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751817"/>
                  </a:ext>
                </a:extLst>
              </a:tr>
              <a:tr h="43494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Bundling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12.474.903.000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11.734.886.000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11.943.682.000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       740.017.000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          208.796.000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-51,3%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-7,9%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322834"/>
                  </a:ext>
                </a:extLst>
              </a:tr>
              <a:tr h="43494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Cashback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N/A  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  1.730.079.000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N/A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1.730.079.000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          1.730.079.000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120,0%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65,7%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176308"/>
                  </a:ext>
                </a:extLst>
              </a:tr>
              <a:tr h="43494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Diskon 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14.598.326.950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14.579.339.840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14.059.549.290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         18.987.110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              519.790.550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-1,3%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19,7%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520196"/>
                  </a:ext>
                </a:extLst>
              </a:tr>
              <a:tr h="43494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Tanpa Promosi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55.208.009.000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55.678.508.000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55.086.614.000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   470.499.000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              591.894.000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32,6%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896404"/>
                  </a:ext>
                </a:extLst>
              </a:tr>
              <a:tr h="43494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82.281.238.950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83.722.812.840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81.089.845.290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    1.441.573.890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          2.632.967.550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100,0%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665709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5A50BBC-6DDC-4D2A-B2D9-F895CCFB3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77773"/>
              </p:ext>
            </p:extLst>
          </p:nvPr>
        </p:nvGraphicFramePr>
        <p:xfrm>
          <a:off x="-2" y="3637054"/>
          <a:ext cx="12113232" cy="3159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872">
                  <a:extLst>
                    <a:ext uri="{9D8B030D-6E8A-4147-A177-3AD203B41FA5}">
                      <a16:colId xmlns:a16="http://schemas.microsoft.com/office/drawing/2014/main" val="1904464194"/>
                    </a:ext>
                  </a:extLst>
                </a:gridCol>
                <a:gridCol w="2018872">
                  <a:extLst>
                    <a:ext uri="{9D8B030D-6E8A-4147-A177-3AD203B41FA5}">
                      <a16:colId xmlns:a16="http://schemas.microsoft.com/office/drawing/2014/main" val="1428340986"/>
                    </a:ext>
                  </a:extLst>
                </a:gridCol>
                <a:gridCol w="2018872">
                  <a:extLst>
                    <a:ext uri="{9D8B030D-6E8A-4147-A177-3AD203B41FA5}">
                      <a16:colId xmlns:a16="http://schemas.microsoft.com/office/drawing/2014/main" val="3523278407"/>
                    </a:ext>
                  </a:extLst>
                </a:gridCol>
                <a:gridCol w="2018872">
                  <a:extLst>
                    <a:ext uri="{9D8B030D-6E8A-4147-A177-3AD203B41FA5}">
                      <a16:colId xmlns:a16="http://schemas.microsoft.com/office/drawing/2014/main" val="3526582078"/>
                    </a:ext>
                  </a:extLst>
                </a:gridCol>
                <a:gridCol w="2018872">
                  <a:extLst>
                    <a:ext uri="{9D8B030D-6E8A-4147-A177-3AD203B41FA5}">
                      <a16:colId xmlns:a16="http://schemas.microsoft.com/office/drawing/2014/main" val="1964148261"/>
                    </a:ext>
                  </a:extLst>
                </a:gridCol>
                <a:gridCol w="2018872">
                  <a:extLst>
                    <a:ext uri="{9D8B030D-6E8A-4147-A177-3AD203B41FA5}">
                      <a16:colId xmlns:a16="http://schemas.microsoft.com/office/drawing/2014/main" val="4000440408"/>
                    </a:ext>
                  </a:extLst>
                </a:gridCol>
              </a:tblGrid>
              <a:tr h="63186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Factor 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Effect 2024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Effect 2025</a:t>
                      </a:r>
                    </a:p>
                  </a:txBody>
                  <a:tcPr marL="6350" marR="6350" marT="635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421795"/>
                  </a:ext>
                </a:extLst>
              </a:tr>
              <a:tr h="63186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Harga list rata-rata </a:t>
                      </a:r>
                    </a:p>
                  </a:txBody>
                  <a:tcPr marL="6350" marR="6350" marT="6350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4.124.636,24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4.140.527,48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4.105.716,23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19.838,62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43.330,27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6544"/>
                  </a:ext>
                </a:extLst>
              </a:tr>
              <a:tr h="63186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Unit Per Transaksi </a:t>
                      </a:r>
                    </a:p>
                  </a:txBody>
                  <a:tcPr marL="6350" marR="6350" marT="6350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1,2922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1,3064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1,2961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56.230,64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40.576,84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079815"/>
                  </a:ext>
                </a:extLst>
              </a:tr>
              <a:tr h="63186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AOV </a:t>
                      </a:r>
                    </a:p>
                  </a:txBody>
                  <a:tcPr marL="6350" marR="6350" marT="6350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5.119.858,06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5.198.560,25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5.066.215,50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78.702,19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132.344,75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527906"/>
                  </a:ext>
                </a:extLst>
              </a:tr>
              <a:tr h="63186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Realisasi harga </a:t>
                      </a:r>
                    </a:p>
                  </a:txBody>
                  <a:tcPr marL="6350" marR="6350" marT="6350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0,9606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0,9611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0,9521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Rp   2.632,93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-Rp   48.437,64 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89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18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1478</TotalTime>
  <Words>454</Words>
  <Application>Microsoft Office PowerPoint</Application>
  <PresentationFormat>Widescreen</PresentationFormat>
  <Paragraphs>110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Aharoni</vt:lpstr>
      <vt:lpstr>Arial</vt:lpstr>
      <vt:lpstr>Calibri</vt:lpstr>
      <vt:lpstr>Calibri Light</vt:lpstr>
      <vt:lpstr>Office Theme</vt:lpstr>
      <vt:lpstr>PowerPoint Presentation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Randi Ramadhan</dc:creator>
  <cp:lastModifiedBy>Randi Ramadhan</cp:lastModifiedBy>
  <cp:revision>75</cp:revision>
  <dcterms:created xsi:type="dcterms:W3CDTF">2026-09-26T07:22:02Z</dcterms:created>
  <dcterms:modified xsi:type="dcterms:W3CDTF">2026-10-14T13:25:04Z</dcterms:modified>
</cp:coreProperties>
</file>